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" y="640080"/>
            <a:ext cx="1371600" cy="1371600"/>
          </a:xfrm>
          <a:prstGeom prst="ellipse">
            <a:avLst/>
          </a:prstGeom>
          <a:solidFill>
            <a:srgbClr val="0F2B3D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6400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9E0B"/>
                </a:solidFill>
              </a:rPr>
              <a:t>P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Pioneer Outsourcing BPO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59E0B"/>
                </a:solidFill>
              </a:rPr>
              <a:t>Elite BPO Solutions from Nairobi, Kenya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3B4C4"/>
                </a:solidFill>
              </a:rPr>
              <a:t>Serving USA | UK | Europe | Global Markets 24/7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931920"/>
            <a:ext cx="2194560" cy="822960"/>
          </a:xfrm>
          <a:prstGeom prst="rect">
            <a:avLst/>
          </a:prstGeom>
          <a:solidFill>
            <a:srgbClr val="0F2B3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95020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200+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3B4C4"/>
                </a:solidFill>
              </a:rPr>
              <a:t>Global Clients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017520" y="3931920"/>
            <a:ext cx="2194560" cy="822960"/>
          </a:xfrm>
          <a:prstGeom prst="rect">
            <a:avLst/>
          </a:prstGeom>
          <a:solidFill>
            <a:srgbClr val="0F2B3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395020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98%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017520" y="4343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3B4C4"/>
                </a:solidFill>
              </a:rPr>
              <a:t>Satisfaction Rate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577840" y="3931920"/>
            <a:ext cx="2194560" cy="822960"/>
          </a:xfrm>
          <a:prstGeom prst="rect">
            <a:avLst/>
          </a:prstGeom>
          <a:solidFill>
            <a:srgbClr val="0F2B3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395020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24/7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577840" y="4343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3B4C4"/>
                </a:solidFill>
              </a:rPr>
              <a:t>Operations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138160" y="3931920"/>
            <a:ext cx="2194560" cy="822960"/>
          </a:xfrm>
          <a:prstGeom prst="rect">
            <a:avLst/>
          </a:prstGeom>
          <a:solidFill>
            <a:srgbClr val="0F2B3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395020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40-60%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138160" y="4343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3B4C4"/>
                </a:solidFill>
              </a:rPr>
              <a:t>Cost Reduction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pioneeroutsourcingbpo.com  |  hello@pioneeroutsourcingbpo.com  |  WhatsApp: +254111562567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Who We Are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59E0B"/>
                </a:solidFill>
              </a:rPr>
              <a:t>Africa's Premier BPO Company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514600"/>
            <a:ext cx="3657600" cy="36576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1A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Company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371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Founded and headquartered in Nairobi, Kenya — the BPO hub of East Africa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1371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72768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Specialising in call center, virtual assistant, technical support &amp; back-office services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139696"/>
            <a:ext cx="1371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48256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Serving clients across USA, UK, Europe and global markets with 24/7 operations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615184"/>
            <a:ext cx="1371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23744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Certified team of trained professionals with enterprise-grade infrastructure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090672"/>
            <a:ext cx="1371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9923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Committed to reducing operational costs by 40-60% while maintaining top quality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566160"/>
            <a:ext cx="1371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4747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ISO-compliant processes, GDPR-aware data handling, and robust SLA frameworks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0" y="137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ABOUT US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0" y="4937760"/>
            <a:ext cx="12188952" cy="210312"/>
          </a:xfrm>
          <a:prstGeom prst="rect">
            <a:avLst/>
          </a:prstGeom>
          <a:solidFill>
            <a:srgbClr val="0A1A2F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4937760"/>
            <a:ext cx="11430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Pioneer Outsourcing BPO  |  pioneeroutsourcingbpo.com  |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Our Services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59E0B"/>
                </a:solidFill>
              </a:rPr>
              <a:t>End-to-End BPO Solutions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514600"/>
            <a:ext cx="3657600" cy="36576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1A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Core Service Offerings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394960" cy="37490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2F"/>
                </a:solidFill>
              </a:rPr>
              <a:t>Customer &amp; Call Center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3716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60020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50876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Inbound &amp; outbound call handling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192024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Omnichannel support (phone, email, chat)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33172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Customer retention &amp; complaint resolution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27432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Order processing &amp; after-sales support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315468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Help desk &amp; tier-1 technical support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1005840"/>
            <a:ext cx="5394960" cy="37490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1051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2F"/>
                </a:solidFill>
              </a:rPr>
              <a:t>Virtual Assistant Services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37960" y="1389888"/>
            <a:ext cx="13716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6583680" y="160020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784848" y="150876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Executive &amp; personal assistant tasks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83680" y="201168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6784848" y="192024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Calendar management &amp; scheduling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83680" y="242316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6784848" y="233172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Email management &amp; correspondence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0" y="283464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784848" y="27432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Research, reporting &amp; data management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0" y="324612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6784848" y="315468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Social media management &amp; posting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937760"/>
            <a:ext cx="12188952" cy="210312"/>
          </a:xfrm>
          <a:prstGeom prst="rect">
            <a:avLst/>
          </a:prstGeom>
          <a:solidFill>
            <a:srgbClr val="0A1A2F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4937760"/>
            <a:ext cx="11430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Pioneer Outsourcing BPO  |  pioneeroutsourcingbpo.com  |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1A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Additional Services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394960" cy="37490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2F"/>
                </a:solidFill>
              </a:rPr>
              <a:t>Back-Office Operations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3716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60020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50876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Data entry, processing &amp; cleansing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192024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Document management &amp; digitisation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33172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Invoice processing &amp; reconciliation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27432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Database management &amp; reporting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315468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Compliance monitoring &amp; auditing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1005840"/>
            <a:ext cx="5394960" cy="37490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1051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2F"/>
                </a:solidFill>
              </a:rPr>
              <a:t>Sales &amp; Lead Generation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37960" y="1389888"/>
            <a:ext cx="13716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6583680" y="160020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784848" y="150876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Outbound sales &amp; telemarketing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83680" y="201168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6784848" y="192024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Lead qualification &amp; nurturing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83680" y="242316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6784848" y="233172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CRM management &amp; pipeline tracking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0" y="283464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784848" y="27432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Appointment setting &amp; demos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0" y="324612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6784848" y="315468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Market research &amp; competitor analysis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937760"/>
            <a:ext cx="12188952" cy="210312"/>
          </a:xfrm>
          <a:prstGeom prst="rect">
            <a:avLst/>
          </a:prstGeom>
          <a:solidFill>
            <a:srgbClr val="0A1A2F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4937760"/>
            <a:ext cx="11430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Pioneer Outsourcing BPO  |  pioneeroutsourcingbpo.com  |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2B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Pioneer by the Numbers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566160" cy="1554480"/>
          </a:xfrm>
          <a:prstGeom prst="rect">
            <a:avLst/>
          </a:prstGeom>
          <a:solidFill>
            <a:srgbClr val="0F2B3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</a:rPr>
              <a:t>200+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Global Clients Served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3B4C4"/>
                </a:solidFill>
              </a:rPr>
              <a:t>Across USA, UK, Europe and Africa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297680" y="1051560"/>
            <a:ext cx="3566160" cy="1554480"/>
          </a:xfrm>
          <a:prstGeom prst="rect">
            <a:avLst/>
          </a:prstGeom>
          <a:solidFill>
            <a:srgbClr val="0F2B3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11887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</a:rPr>
              <a:t>98%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297680" y="18288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Client Satisfaction Rate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0" y="2148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3B4C4"/>
                </a:solidFill>
              </a:rPr>
              <a:t>Based on quarterly NPS surveys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229600" y="1051560"/>
            <a:ext cx="3566160" cy="1554480"/>
          </a:xfrm>
          <a:prstGeom prst="rect">
            <a:avLst/>
          </a:prstGeom>
          <a:solidFill>
            <a:srgbClr val="0F2B3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1887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</a:rPr>
              <a:t>40-60%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229600" y="18288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Average Cost Reduction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0" y="2148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3B4C4"/>
                </a:solidFill>
              </a:rPr>
              <a:t>Compared to in-house operations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3566160" cy="1554480"/>
          </a:xfrm>
          <a:prstGeom prst="rect">
            <a:avLst/>
          </a:prstGeom>
          <a:solidFill>
            <a:srgbClr val="0F2B3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0175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</a:rPr>
              <a:t>24/7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65760" y="36576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Round-the-Clock Operations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977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3B4C4"/>
                </a:solidFill>
              </a:rPr>
              <a:t>Multiple shift coverage available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297680" y="2880360"/>
            <a:ext cx="3566160" cy="1554480"/>
          </a:xfrm>
          <a:prstGeom prst="rect">
            <a:avLst/>
          </a:prstGeom>
          <a:solidFill>
            <a:srgbClr val="0F2B3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0" y="30175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</a:rPr>
              <a:t>&lt;4hrs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4297680" y="36576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Onboarding Response Time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97680" y="3977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3B4C4"/>
                </a:solidFill>
              </a:rPr>
              <a:t>Fast-track go-live in 5-7 days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229600" y="2880360"/>
            <a:ext cx="3566160" cy="1554480"/>
          </a:xfrm>
          <a:prstGeom prst="rect">
            <a:avLst/>
          </a:prstGeom>
          <a:solidFill>
            <a:srgbClr val="0F2B3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0" y="30175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</a:rPr>
              <a:t>99.5%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8229600" y="36576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System Uptime SLA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0" y="3977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3B4C4"/>
                </a:solidFill>
              </a:rPr>
              <a:t>Enterprise-grade infrastructure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0" y="4937760"/>
            <a:ext cx="12188952" cy="210312"/>
          </a:xfrm>
          <a:prstGeom prst="rect">
            <a:avLst/>
          </a:prstGeom>
          <a:solidFill>
            <a:srgbClr val="0F2B3D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4937760"/>
            <a:ext cx="11430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Pioneer Outsourcing BPO  |  pioneeroutsourcingbpo.com  |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Why Pioneer?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59E0B"/>
                </a:solidFill>
              </a:rPr>
              <a:t>The Competitive Advantage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514600"/>
            <a:ext cx="3657600" cy="36576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1A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Choose Pioneer Outsourcing BPO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371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COST EFFICIENCY: 40-60% savings vs. in-house teams in USA/UK/Europe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1371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72768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SKILLED WORKFORCE: University-educated, English-proficient, professionally trained agents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139696"/>
            <a:ext cx="1371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48256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NAIROBI ADVANTAGE: Access East Africa's top BPO talent at competitive rates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615184"/>
            <a:ext cx="1371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23744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FAST ONBOARDING: Go live in as little as 5-7 business days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090672"/>
            <a:ext cx="1371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9923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FLEXIBLE SCALING: Scale up or down instantly — no long-term lock-in required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566160"/>
            <a:ext cx="1371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4747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TECHNOLOGY STACK: CRM, dialers, ticketing, analytics — bring your tools or use ours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041648"/>
            <a:ext cx="1371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950208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24/7 COVERAGE: Multiple shift models including overnight and weekend support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0" y="137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WHY PIONEER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4937760"/>
            <a:ext cx="12188952" cy="210312"/>
          </a:xfrm>
          <a:prstGeom prst="rect">
            <a:avLst/>
          </a:prstGeom>
          <a:solidFill>
            <a:srgbClr val="0A1A2F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937760"/>
            <a:ext cx="11430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Pioneer Outsourcing BPO  |  pioneeroutsourcingbpo.com  |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Pricing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59E0B"/>
                </a:solidFill>
              </a:rPr>
              <a:t>Flexible &amp; Transparent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514600"/>
            <a:ext cx="3657600" cy="36576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1A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Pricing Models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371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HOURLY: From $8-$15/hour — ideal for fluctuating workloads and project-based work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1371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72768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DEDICATED AGENT: From $1,200-$2,500/month — full-time dedicated resource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139696"/>
            <a:ext cx="1371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48256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TEAM PACKAGE: From $5,000/month — complete managed team (5+ agents + supervisor)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615184"/>
            <a:ext cx="1371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23744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PROJECT-BASED: Custom pricing for defined deliverables and timelines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090672"/>
            <a:ext cx="1371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9923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All packages include: onboarding, training, QA monitoring, and account management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566160"/>
            <a:ext cx="1371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4747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No hidden fees — transparent billing with monthly invoicing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041648"/>
            <a:ext cx="1371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950208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Free consultation and custom quote available within 24 hours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0" y="137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PRICING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4937760"/>
            <a:ext cx="12188952" cy="210312"/>
          </a:xfrm>
          <a:prstGeom prst="rect">
            <a:avLst/>
          </a:prstGeom>
          <a:solidFill>
            <a:srgbClr val="0A1A2F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937760"/>
            <a:ext cx="11430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Pioneer Outsourcing BPO  |  pioneeroutsourcingbpo.com  |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Onboarding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59E0B"/>
                </a:solidFill>
              </a:rPr>
              <a:t>5-7 Days to Go Live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514600"/>
            <a:ext cx="3657600" cy="36576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1A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Our Onboarding Process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371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DAY 1-2: Discovery call — understand your needs, processes, tools &amp; expectations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1371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72768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DAY 2-3: Contract signing, NDA execution, and team selection begins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139696"/>
            <a:ext cx="1371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48256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DAY 3-4: Agent training on your products, scripts, systems and brand voice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615184"/>
            <a:ext cx="1371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23744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DAY 4-5: Infrastructure setup — CRM access, dialers, email accounts configured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090672"/>
            <a:ext cx="1371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9923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DAY 5-6: Parallel running — agents shadow or practice with quality checks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566160"/>
            <a:ext cx="1371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4747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DAY 7:   Full Go-Live — operations begin with real-time supervisor oversight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041648"/>
            <a:ext cx="1371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950208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POST GO-LIVE: Weekly performance reviews, KPI tracking, continuous improvement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0" y="137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ONBOARDING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4937760"/>
            <a:ext cx="12188952" cy="210312"/>
          </a:xfrm>
          <a:prstGeom prst="rect">
            <a:avLst/>
          </a:prstGeom>
          <a:solidFill>
            <a:srgbClr val="0A1A2F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937760"/>
            <a:ext cx="11430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Pioneer Outsourcing BPO  |  pioneeroutsourcingbpo.com  |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SLAs &amp; Quality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59E0B"/>
                </a:solidFill>
              </a:rPr>
              <a:t>Our Performance Guarantees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514600"/>
            <a:ext cx="3657600" cy="36576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1A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Service Level Agreements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394960" cy="37490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2F"/>
                </a:solidFill>
              </a:rPr>
              <a:t>Response &amp; Resolution SLAs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13716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60020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50876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Phone: Answer within 20 seconds (80% of calls)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192024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Email: First response within 4 business hours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33172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Live Chat: Initial response within 60 seconds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27432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Ticket Resolution: Within 24-48 hours (Tier 1)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315468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Escalations: Within 2 hours to senior agents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1005840"/>
            <a:ext cx="5394960" cy="37490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1051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2F"/>
                </a:solidFill>
              </a:rPr>
              <a:t>Quality Metrics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37960" y="1389888"/>
            <a:ext cx="13716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6583680" y="160020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784848" y="150876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First Call Resolution (FCR): &gt;85% target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83680" y="201168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6784848" y="192024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Customer Satisfaction Score: &gt;4.2/5.0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83680" y="242316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6784848" y="233172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Quality Assurance Score: &gt;92% on calls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0" y="283464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784848" y="27432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Agent Attendance Rate: &gt;95%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0" y="324612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6784848" y="315468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System Uptime: 99.5% guaranteed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937760"/>
            <a:ext cx="12188952" cy="210312"/>
          </a:xfrm>
          <a:prstGeom prst="rect">
            <a:avLst/>
          </a:prstGeom>
          <a:solidFill>
            <a:srgbClr val="0A1A2F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4937760"/>
            <a:ext cx="11430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Pioneer Outsourcing BPO  |  pioneeroutsourcingbpo.com  |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Security &amp; Compliance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59E0B"/>
                </a:solidFill>
              </a:rPr>
              <a:t>Enterprise-Grade Data Protection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514600"/>
            <a:ext cx="3657600" cy="36576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1A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Security &amp; Compliance Framework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371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GDPR AWARENESS: Trained on EU data protection requirements for European clients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1371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72768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HIPAA AWARENESS: Healthcare data handling protocols available on request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139696"/>
            <a:ext cx="1371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48256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NDA PROTECTION: All agents sign comprehensive NDAs before any client engagement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615184"/>
            <a:ext cx="1371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23744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ACCESS CONTROLS: Role-based access — agents only see data relevant to their work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090672"/>
            <a:ext cx="1371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9923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SECURE INFRASTRUCTURE: Encrypted communications, VPN access, monitored systems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566160"/>
            <a:ext cx="1371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4747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PHYSICAL SECURITY: Secure office premises with CCTV, access cards, no personal devices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041648"/>
            <a:ext cx="1371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950208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DATA RETENTION: Client data deleted/returned per agreed policy upon contract end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0" y="137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SECURITY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4937760"/>
            <a:ext cx="12188952" cy="210312"/>
          </a:xfrm>
          <a:prstGeom prst="rect">
            <a:avLst/>
          </a:prstGeom>
          <a:solidFill>
            <a:srgbClr val="0A1A2F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937760"/>
            <a:ext cx="11430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Pioneer Outsourcing BPO  |  pioneeroutsourcingbpo.com  |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FAQs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59E0B"/>
                </a:solidFill>
              </a:rPr>
              <a:t>Common Questions Answered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514600"/>
            <a:ext cx="3657600" cy="36576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1A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Frequently Asked Questions (1/2)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371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Q: How quickly can we get started? A: 5-7 business days from contract signature.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1371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72768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Q: What time zones do you cover? A: All time zones — 24/7 shifts available.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139696"/>
            <a:ext cx="1371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48256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Q: Can we trial before committing? A: Yes — 2-week paid pilot available.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615184"/>
            <a:ext cx="1371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23744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Q: Do agents work from home or office? A: Supervised office environment only.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090672"/>
            <a:ext cx="1371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9923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Q: What languages do agents speak? A: English (primary), Swahili, French on request.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566160"/>
            <a:ext cx="1371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4747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Q: Can we keep our own CRM/tools? A: Absolutely — we work within your systems.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0" y="137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FAQ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0" y="4937760"/>
            <a:ext cx="12188952" cy="210312"/>
          </a:xfrm>
          <a:prstGeom prst="rect">
            <a:avLst/>
          </a:prstGeom>
          <a:solidFill>
            <a:srgbClr val="0A1A2F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4937760"/>
            <a:ext cx="11430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Pioneer Outsourcing BPO  |  pioneeroutsourcingbpo.com  |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1A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Frequently Asked Questions (2/2)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371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Q: Is there a minimum contract period? A: 3 months minimum, monthly thereafter.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1371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72768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Q: How are agents monitored? A: Call recording, screen capture, QA reviews &amp; coaching.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139696"/>
            <a:ext cx="1371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48256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Q: What if an agent doesn't perform? A: We replace within 48 hours at no extra cost.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615184"/>
            <a:ext cx="1371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23744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Q: How is billing handled? A: Monthly invoicing — NET 15 payment terms.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090672"/>
            <a:ext cx="1371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9923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Q: Can we scale quickly? A: Yes — add agents within 5-7 days as needed.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566160"/>
            <a:ext cx="1371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4747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Q: Are there setup fees? A: No setup fees for standard packages.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0" y="137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FAQ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0" y="4937760"/>
            <a:ext cx="12188952" cy="210312"/>
          </a:xfrm>
          <a:prstGeom prst="rect">
            <a:avLst/>
          </a:prstGeom>
          <a:solidFill>
            <a:srgbClr val="0A1A2F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4937760"/>
            <a:ext cx="11430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Pioneer Outsourcing BPO  |  pioneeroutsourcingbpo.com  |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Ready to Transform Your Operations?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3B4C4"/>
                </a:solidFill>
              </a:rPr>
              <a:t>Partner with Pioneer Outsourcing BPO and unlock 40-60% cost savings today.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670048"/>
            <a:ext cx="109728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6060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Email: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11680" y="2606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hello@pioneeroutsourcingbpo.com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145536"/>
            <a:ext cx="109728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08152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WhatsApp: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11680" y="30815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+254111562567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621024"/>
            <a:ext cx="109728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557016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Website: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11680" y="3557016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pioneeroutsourcingbpo.com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096512"/>
            <a:ext cx="109728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032504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Location: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11680" y="4032504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Nairobi, Kenya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© 2026 Pioneer Outsourcing BPO. All rights reserved. Confidential document.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2026-05-17T16:04:26Z</dcterms:created>
  <dcterms:modified xsi:type="dcterms:W3CDTF">2026-05-17T16:04:26Z</dcterms:modified>
</cp:coreProperties>
</file>